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Mean share of a Games' medals: host nation vs. everyone else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Host nation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Founding
(1896-1912)</c:v>
                </c:pt>
                <c:pt idx="1">
                  <c:v>Interwar
(1920-1936)</c:v>
                </c:pt>
                <c:pt idx="2">
                  <c:v>Cold War
(1948-1988)</c:v>
                </c:pt>
                <c:pt idx="3">
                  <c:v>Post-Cold War
(1992-2000)</c:v>
                </c:pt>
                <c:pt idx="4">
                  <c:v>Modern
(2004-2016)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46.35</c:v>
                </c:pt>
                <c:pt idx="1">
                  <c:v>15.99</c:v>
                </c:pt>
                <c:pt idx="2">
                  <c:v>9.3699999999999992</c:v>
                </c:pt>
                <c:pt idx="3">
                  <c:v>6.99</c:v>
                </c:pt>
                <c:pt idx="4">
                  <c:v>5.27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D7-41E6-B3FA-EAFB0D5472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Everyone else</c:v>
                </c:pt>
              </c:strCache>
            </c:strRef>
          </c:tx>
          <c:spPr>
            <a:solidFill>
              <a:srgbClr val="B0B0B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Founding
(1896-1912)</c:v>
                </c:pt>
                <c:pt idx="1">
                  <c:v>Interwar
(1920-1936)</c:v>
                </c:pt>
                <c:pt idx="2">
                  <c:v>Cold War
(1948-1988)</c:v>
                </c:pt>
                <c:pt idx="3">
                  <c:v>Post-Cold War
(1992-2000)</c:v>
                </c:pt>
                <c:pt idx="4">
                  <c:v>Modern
(2004-2016)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3.78</c:v>
                </c:pt>
                <c:pt idx="1">
                  <c:v>2.96</c:v>
                </c:pt>
                <c:pt idx="2">
                  <c:v>2.17</c:v>
                </c:pt>
                <c:pt idx="3">
                  <c:v>1.27</c:v>
                </c:pt>
                <c:pt idx="4">
                  <c:v>1.32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D7-41E6-B3FA-EAFB0D5472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A5560"/>
                    </a:solidFill>
                    <a:latin typeface="Arial"/>
                  </a:rPr>
                  <a:t>Mean medal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Continental share of total medals awarded, by snapshot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1896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Mixed/Other</c:v>
                </c:pt>
                <c:pt idx="5">
                  <c:v>Oceania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16.399999999999999</c:v>
                </c:pt>
                <c:pt idx="2">
                  <c:v>0</c:v>
                </c:pt>
                <c:pt idx="3">
                  <c:v>80.3</c:v>
                </c:pt>
                <c:pt idx="4">
                  <c:v>1.6</c:v>
                </c:pt>
                <c:pt idx="5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2-4593-B644-29805C229A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1956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Mixed/Other</c:v>
                </c:pt>
                <c:pt idx="5">
                  <c:v>Oceania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</c:v>
                </c:pt>
                <c:pt idx="1">
                  <c:v>20</c:v>
                </c:pt>
                <c:pt idx="2">
                  <c:v>6.2</c:v>
                </c:pt>
                <c:pt idx="3">
                  <c:v>64.7</c:v>
                </c:pt>
                <c:pt idx="4">
                  <c:v>0</c:v>
                </c:pt>
                <c:pt idx="5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2-4593-B644-29805C229A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Mixed/Other</c:v>
                </c:pt>
                <c:pt idx="5">
                  <c:v>Oceania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3.5</c:v>
                </c:pt>
                <c:pt idx="1">
                  <c:v>22.1</c:v>
                </c:pt>
                <c:pt idx="2">
                  <c:v>20.6</c:v>
                </c:pt>
                <c:pt idx="3">
                  <c:v>48.5</c:v>
                </c:pt>
                <c:pt idx="4">
                  <c:v>0</c:v>
                </c:pt>
                <c:pt idx="5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D2-4593-B644-29805C229A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A5560"/>
                    </a:solidFill>
                    <a:latin typeface="Arial"/>
                  </a:rPr>
                  <a:t>Share of medals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Mean gold ÷ total-medal ratio per country-edition, 1948-1988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ratio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Communist Bloc</c:v>
                </c:pt>
                <c:pt idx="1">
                  <c:v>Western Bloc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0.28999999999999998</c:v>
                </c:pt>
                <c:pt idx="1">
                  <c:v>0.28799999999999998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0-40B4-82E2-45ABBB0E637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250" b="0" i="0" u="none" strike="noStrike">
                <a:solidFill>
                  <a:srgbClr val="4A5560"/>
                </a:solidFill>
                <a:latin typeface="Calibri"/>
              </a:rPr>
              <a:t>Top-10 share of medals vs. number of competing nations (2016 excluded — see data note)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Top-10 nations' medal share (%)</c:v>
                </c:pt>
              </c:strCache>
            </c:strRef>
          </c:tx>
          <c:spPr>
            <a:ln w="31750" cap="flat">
              <a:solidFill>
                <a:srgbClr val="C1443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1443C"/>
              </a:solidFill>
              <a:ln w="9525" cap="flat">
                <a:solidFill>
                  <a:srgbClr val="C1443C"/>
                </a:solidFill>
                <a:prstDash val="solid"/>
                <a:round/>
              </a:ln>
              <a:effectLst/>
            </c:spPr>
          </c:marker>
          <c:cat>
            <c:strRef>
              <c:f>Sheet1!$A$2:$A$28</c:f>
              <c:strCache>
                <c:ptCount val="27"/>
                <c:pt idx="0">
                  <c:v>1896</c:v>
                </c:pt>
                <c:pt idx="1">
                  <c:v>1900</c:v>
                </c:pt>
                <c:pt idx="2">
                  <c:v>1904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1996</c:v>
                </c:pt>
                <c:pt idx="23">
                  <c:v>2000</c:v>
                </c:pt>
                <c:pt idx="24">
                  <c:v>2004</c:v>
                </c:pt>
                <c:pt idx="25">
                  <c:v>2008</c:v>
                </c:pt>
                <c:pt idx="26">
                  <c:v>2012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98.4</c:v>
                </c:pt>
                <c:pt idx="1">
                  <c:v>90.8</c:v>
                </c:pt>
                <c:pt idx="2">
                  <c:v>100</c:v>
                </c:pt>
                <c:pt idx="3">
                  <c:v>91.4</c:v>
                </c:pt>
                <c:pt idx="4">
                  <c:v>86.8</c:v>
                </c:pt>
                <c:pt idx="5">
                  <c:v>89.3</c:v>
                </c:pt>
                <c:pt idx="6">
                  <c:v>80.900000000000006</c:v>
                </c:pt>
                <c:pt idx="7">
                  <c:v>75</c:v>
                </c:pt>
                <c:pt idx="8">
                  <c:v>82.7</c:v>
                </c:pt>
                <c:pt idx="9">
                  <c:v>75.099999999999994</c:v>
                </c:pt>
                <c:pt idx="10">
                  <c:v>75.2</c:v>
                </c:pt>
                <c:pt idx="11">
                  <c:v>73.2</c:v>
                </c:pt>
                <c:pt idx="12">
                  <c:v>76.7</c:v>
                </c:pt>
                <c:pt idx="13">
                  <c:v>79</c:v>
                </c:pt>
                <c:pt idx="14">
                  <c:v>77</c:v>
                </c:pt>
                <c:pt idx="15">
                  <c:v>70.599999999999994</c:v>
                </c:pt>
                <c:pt idx="16">
                  <c:v>73.5</c:v>
                </c:pt>
                <c:pt idx="17">
                  <c:v>78.8</c:v>
                </c:pt>
                <c:pt idx="18">
                  <c:v>82.6</c:v>
                </c:pt>
                <c:pt idx="19">
                  <c:v>74.900000000000006</c:v>
                </c:pt>
                <c:pt idx="20">
                  <c:v>72.400000000000006</c:v>
                </c:pt>
                <c:pt idx="21">
                  <c:v>64.3</c:v>
                </c:pt>
                <c:pt idx="22">
                  <c:v>55.5</c:v>
                </c:pt>
                <c:pt idx="23">
                  <c:v>55.1</c:v>
                </c:pt>
                <c:pt idx="24">
                  <c:v>55.6</c:v>
                </c:pt>
                <c:pt idx="25">
                  <c:v>56.6</c:v>
                </c:pt>
                <c:pt idx="26">
                  <c:v>55.8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00-4B04-A2C7-CD624DC2F9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Number of competing nations</c:v>
                </c:pt>
              </c:strCache>
            </c:strRef>
          </c:tx>
          <c:spPr>
            <a:ln w="31750" cap="flat">
              <a:solidFill>
                <a:srgbClr val="0F2A4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F2A4A"/>
              </a:solidFill>
              <a:ln w="9525" cap="flat">
                <a:solidFill>
                  <a:srgbClr val="0F2A4A"/>
                </a:solidFill>
                <a:prstDash val="solid"/>
                <a:round/>
              </a:ln>
              <a:effectLst/>
            </c:spPr>
          </c:marker>
          <c:cat>
            <c:strRef>
              <c:f>Sheet1!$A$2:$A$28</c:f>
              <c:strCache>
                <c:ptCount val="27"/>
                <c:pt idx="0">
                  <c:v>1896</c:v>
                </c:pt>
                <c:pt idx="1">
                  <c:v>1900</c:v>
                </c:pt>
                <c:pt idx="2">
                  <c:v>1904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1996</c:v>
                </c:pt>
                <c:pt idx="23">
                  <c:v>2000</c:v>
                </c:pt>
                <c:pt idx="24">
                  <c:v>2004</c:v>
                </c:pt>
                <c:pt idx="25">
                  <c:v>2008</c:v>
                </c:pt>
                <c:pt idx="26">
                  <c:v>2012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11</c:v>
                </c:pt>
                <c:pt idx="1">
                  <c:v>19</c:v>
                </c:pt>
                <c:pt idx="2">
                  <c:v>8</c:v>
                </c:pt>
                <c:pt idx="3">
                  <c:v>19</c:v>
                </c:pt>
                <c:pt idx="4">
                  <c:v>19</c:v>
                </c:pt>
                <c:pt idx="5">
                  <c:v>22</c:v>
                </c:pt>
                <c:pt idx="6">
                  <c:v>31</c:v>
                </c:pt>
                <c:pt idx="7">
                  <c:v>34</c:v>
                </c:pt>
                <c:pt idx="8">
                  <c:v>28</c:v>
                </c:pt>
                <c:pt idx="9">
                  <c:v>32</c:v>
                </c:pt>
                <c:pt idx="10">
                  <c:v>38</c:v>
                </c:pt>
                <c:pt idx="11">
                  <c:v>43</c:v>
                </c:pt>
                <c:pt idx="12">
                  <c:v>37</c:v>
                </c:pt>
                <c:pt idx="13">
                  <c:v>44</c:v>
                </c:pt>
                <c:pt idx="14">
                  <c:v>41</c:v>
                </c:pt>
                <c:pt idx="15">
                  <c:v>44</c:v>
                </c:pt>
                <c:pt idx="16">
                  <c:v>48</c:v>
                </c:pt>
                <c:pt idx="17">
                  <c:v>41</c:v>
                </c:pt>
                <c:pt idx="18">
                  <c:v>36</c:v>
                </c:pt>
                <c:pt idx="19">
                  <c:v>47</c:v>
                </c:pt>
                <c:pt idx="20">
                  <c:v>52</c:v>
                </c:pt>
                <c:pt idx="21">
                  <c:v>64</c:v>
                </c:pt>
                <c:pt idx="22">
                  <c:v>79</c:v>
                </c:pt>
                <c:pt idx="23">
                  <c:v>80</c:v>
                </c:pt>
                <c:pt idx="24">
                  <c:v>74</c:v>
                </c:pt>
                <c:pt idx="25">
                  <c:v>87</c:v>
                </c:pt>
                <c:pt idx="26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00-4B04-A2C7-CD624DC2F9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Top-10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Nations competing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Mean gold ÷ total-medal ratio: historical entity vs. modern successor state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Defunct system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USSR → Russia</c:v>
                </c:pt>
                <c:pt idx="1">
                  <c:v>East Germany → Germany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0.38400000000000001</c:v>
                </c:pt>
                <c:pt idx="1">
                  <c:v>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B-4460-B654-5F5902145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Modern successor</c:v>
                </c:pt>
              </c:strCache>
            </c:strRef>
          </c:tx>
          <c:spPr>
            <a:solidFill>
              <a:srgbClr val="56B4E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USSR → Russia</c:v>
                </c:pt>
                <c:pt idx="1">
                  <c:v>East Germany → Germany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0.30399999999999999</c:v>
                </c:pt>
                <c:pt idx="1">
                  <c:v>0.32200000000000001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CB-4460-B654-5F5902145F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Mean medal share vs. year-to-year volatility (std. dev.), by continent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share of medals (%)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Oceania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2.37</c:v>
                </c:pt>
                <c:pt idx="1">
                  <c:v>23.91</c:v>
                </c:pt>
                <c:pt idx="2">
                  <c:v>9.1</c:v>
                </c:pt>
                <c:pt idx="3">
                  <c:v>62.72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4-4E16-9793-667E7481BD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Volatility (std. dev., pct points)</c:v>
                </c:pt>
              </c:strCache>
            </c:strRef>
          </c:tx>
          <c:spPr>
            <a:ln w="31750" cap="flat">
              <a:solidFill>
                <a:srgbClr val="C1443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1443C"/>
              </a:solidFill>
              <a:ln w="9525" cap="flat">
                <a:solidFill>
                  <a:srgbClr val="C1443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Africa</c:v>
                </c:pt>
                <c:pt idx="1">
                  <c:v>Americas</c:v>
                </c:pt>
                <c:pt idx="2">
                  <c:v>Asia</c:v>
                </c:pt>
                <c:pt idx="3">
                  <c:v>Europe</c:v>
                </c:pt>
                <c:pt idx="4">
                  <c:v>Oceania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1.1599999999999999</c:v>
                </c:pt>
                <c:pt idx="1">
                  <c:v>14.46</c:v>
                </c:pt>
                <c:pt idx="2">
                  <c:v>7.31</c:v>
                </c:pt>
                <c:pt idx="3">
                  <c:v>15.82</c:v>
                </c:pt>
                <c:pt idx="4">
                  <c:v>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B4-4E16-9793-667E7481BD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Mean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Volatility (std. dev.)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Host-year medal share minus non-host-year medal share, by continent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Host-year boost (pct points)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Oceania</c:v>
                </c:pt>
                <c:pt idx="1">
                  <c:v>Asia</c:v>
                </c:pt>
                <c:pt idx="2">
                  <c:v>Europe</c:v>
                </c:pt>
                <c:pt idx="3">
                  <c:v>Americas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5.9</c:v>
                </c:pt>
                <c:pt idx="2">
                  <c:v>13.8</c:v>
                </c:pt>
                <c:pt idx="3">
                  <c:v>20.7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0-48AF-ABCA-8C2CAE9CB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A5560"/>
                    </a:solidFill>
                    <a:latin typeface="Arial"/>
                  </a:rPr>
                  <a:t>Boost (percentage points)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Career total medals vs. number of editions medalled at, top 8 nations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total medals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USA</c:v>
                </c:pt>
                <c:pt idx="1">
                  <c:v>URS</c:v>
                </c:pt>
                <c:pt idx="2">
                  <c:v>GBR</c:v>
                </c:pt>
                <c:pt idx="3">
                  <c:v>GER</c:v>
                </c:pt>
                <c:pt idx="4">
                  <c:v>FRA</c:v>
                </c:pt>
                <c:pt idx="5">
                  <c:v>ITA</c:v>
                </c:pt>
                <c:pt idx="6">
                  <c:v>CHN</c:v>
                </c:pt>
                <c:pt idx="7">
                  <c:v>HUN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2542</c:v>
                </c:pt>
                <c:pt idx="1">
                  <c:v>1010</c:v>
                </c:pt>
                <c:pt idx="2">
                  <c:v>864</c:v>
                </c:pt>
                <c:pt idx="3">
                  <c:v>754</c:v>
                </c:pt>
                <c:pt idx="4">
                  <c:v>739</c:v>
                </c:pt>
                <c:pt idx="5">
                  <c:v>589</c:v>
                </c:pt>
                <c:pt idx="6">
                  <c:v>546</c:v>
                </c:pt>
                <c:pt idx="7">
                  <c:v>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CB-4FE9-B14F-779614DB2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Editions medalled at (breadth)</c:v>
                </c:pt>
              </c:strCache>
            </c:strRef>
          </c:tx>
          <c:spPr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USA</c:v>
                </c:pt>
                <c:pt idx="1">
                  <c:v>URS</c:v>
                </c:pt>
                <c:pt idx="2">
                  <c:v>GBR</c:v>
                </c:pt>
                <c:pt idx="3">
                  <c:v>GER</c:v>
                </c:pt>
                <c:pt idx="4">
                  <c:v>FRA</c:v>
                </c:pt>
                <c:pt idx="5">
                  <c:v>ITA</c:v>
                </c:pt>
                <c:pt idx="6">
                  <c:v>CHN</c:v>
                </c:pt>
                <c:pt idx="7">
                  <c:v>HUN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</c:v>
                </c:pt>
                <c:pt idx="1">
                  <c:v>9</c:v>
                </c:pt>
                <c:pt idx="2">
                  <c:v>28</c:v>
                </c:pt>
                <c:pt idx="3">
                  <c:v>19</c:v>
                </c:pt>
                <c:pt idx="4">
                  <c:v>27</c:v>
                </c:pt>
                <c:pt idx="5">
                  <c:v>26</c:v>
                </c:pt>
                <c:pt idx="6">
                  <c:v>9</c:v>
                </c:pt>
                <c:pt idx="7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CB-4FE9-B14F-779614DB2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Career total medals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A5560"/>
                    </a:solidFill>
                    <a:latin typeface="Arial"/>
                  </a:rPr>
                  <a:t>Editions medalled at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4A5560"/>
                </a:solidFill>
                <a:latin typeface="Calibri"/>
              </a:rPr>
              <a:t>Rank at first vs. most recent Games appearance, nations in ≥ 8 editions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places climbed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BRA</c:v>
                </c:pt>
                <c:pt idx="1">
                  <c:v>YUG</c:v>
                </c:pt>
                <c:pt idx="2">
                  <c:v>CHN</c:v>
                </c:pt>
                <c:pt idx="3">
                  <c:v>NZL</c:v>
                </c:pt>
                <c:pt idx="4">
                  <c:v>KEN</c:v>
                </c:pt>
                <c:pt idx="5">
                  <c:v>JPN</c:v>
                </c:pt>
                <c:pt idx="6">
                  <c:v>RUS</c:v>
                </c:pt>
                <c:pt idx="7">
                  <c:v>KOR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4-4927-B549-23D346C015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A5560"/>
                    </a:solidFill>
                    <a:latin typeface="Arial"/>
                  </a:rPr>
                  <a:t>Places climbed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lang="en-GB" sz="1250" b="0" i="0" u="none" strike="noStrike">
                <a:solidFill>
                  <a:srgbClr val="4A5560"/>
                </a:solidFill>
                <a:latin typeface="Calibri"/>
              </a:rPr>
              <a:t>Combined total medals of 14 former-Soviet states vs. the USSR's 1952-1988 average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Successor states, combined total</c:v>
                </c:pt>
              </c:strCache>
            </c:strRef>
          </c:tx>
          <c:spPr>
            <a:ln w="38100" cap="flat">
              <a:solidFill>
                <a:srgbClr val="0F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2A4A"/>
              </a:solidFill>
              <a:ln w="9525" cap="flat">
                <a:solidFill>
                  <a:srgbClr val="0F2A4A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1996</c:v>
                </c:pt>
                <c:pt idx="1">
                  <c:v>2000</c:v>
                </c:pt>
                <c:pt idx="2">
                  <c:v>2004</c:v>
                </c:pt>
                <c:pt idx="3">
                  <c:v>2008</c:v>
                </c:pt>
                <c:pt idx="4">
                  <c:v>2012</c:v>
                </c:pt>
                <c:pt idx="5">
                  <c:v>2016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123</c:v>
                </c:pt>
                <c:pt idx="1">
                  <c:v>164</c:v>
                </c:pt>
                <c:pt idx="2">
                  <c:v>157</c:v>
                </c:pt>
                <c:pt idx="3">
                  <c:v>143</c:v>
                </c:pt>
                <c:pt idx="4">
                  <c:v>135</c:v>
                </c:pt>
                <c:pt idx="5">
                  <c:v>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4E-4462-91DF-660761649A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A5560"/>
                    </a:solidFill>
                    <a:latin typeface="Arial"/>
                  </a:rPr>
                  <a:t>Total medals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04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lympics-medals-final-project-rwuxvhxn3cbpdntlkieyzo.streamlit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6375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637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YEARS OF THE SUMMER OLYMPICS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Geopolitics, Hosts, and Medal Power — 1896 to 2016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039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Akbar Ali - 87725863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sz="14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— Data Visualization, Summer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325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Summer Olympiads  ·  146 countries &amp; historical entities  ·  1,208 country-edition records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A Century of Medal Tallies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 per Games, 1896-2016 (1916/1940/1944 absent — cancelled for the two World Wars). Every row carries: medal counts, continent, host-nation flag, historical era, and a defunct-political-entity flag (Soviet Union, East/West Germany, Czechoslovakia, Yugoslavia, and more), sourced from a public GitHub mirror and cross-referenced against the IOC's NOC code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Olympiads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19272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historical NOCs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81344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tracked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43416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43416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3416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Data-completeness note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2016 Rio source file is missing roughly 40 low-medal-count countries (a fetch-size limitation upstream) — every country of real analytical consequence is present, and any chart that depends on a complete country count is explicitly restricted or footnoted throughout this deck and the analysis notebook.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clean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234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country-edition medal tallies with an NOC-to-continent lookup; hand-verified host-nation and host-city facts for all 28 editions.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286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per-edition rank, medal share, gold-conversion ratio, era buckets, and a defunct-entity flag for historical political teams.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genuinely multi-dimensional questions — each combines at least a temporal, categorical, and quantitative dimension, not single-variable lookups.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4389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explanatory Plotly visuals: colour-blind-safe (Okabe-Ito) palette, decluttered gridlines, and a stated takeaway in every chart title.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hosting boost a nation's medals — and has the boost shrunk over time?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boost is real in every era but has fallen from ~46% of all medals (1896-1912) to ~5% today, as fields grew from a handful of nations to 80+.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has the continental balance of Olympic power shifted since 1896?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share fell from 80% (1896) to 48% (2016). The gain went overwhelmingly to Asia — near zero before the 1950s, ~21% by 2016 — not primarily the Americas.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Myth-check: did the Communist Bloc convert medals to gold more efficiently?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0" y="128016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Cold War narrative doesn't hold: Communist Bloc (0.290) and Western Bloc (0.288) converted medals to gold at nearly identical rates. The real difference was volume, not efficiency.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field grew 8x, did medal concentration fall at the same pace?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11247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fell hard, from 98% (1896) to ~55% (2000s), then flattened — even in a global field of 85+ nations, the top 10 still take roughly half of all medals.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the defunct Cold War powerhouses more efficient than their successors?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280160"/>
          <a:ext cx="10058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defunct state-run systems out-converted their successors: USSR 0.384 vs Russia 0.304; East Germany 0.369 vs reunified Germany 0.322 — a real, if modest, efficiency legacy.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continent's performance is most volatile, and which most stable?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is both the biggest (63%) and most volatile (std 15.8) continent — its share is on a long downward trend, not just noise. Africa and Oceania are small but stable.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hosting help weaker continents more, or amplify existing strength?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371600" y="1280160"/>
          <a:ext cx="9418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amplifies existing strength most: the Americas (+20.7 pts) and Europe (+13.8 pts) gain far more than Asia (+5.9) or Oceania (+5.3) — it is not primarily an equaliser.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Century-long dominance, or a compressed one-era powerhouse?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and GBR dominate broadly across 27-28 editions. The USSR tells a different story: only 9 editions of existence, yet 1,010 career medals — the highest per-edition rate of any nation.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long-tenured nations climbed furthest in the Olympic rankings?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371600" y="1280160"/>
          <a:ext cx="9418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climbed 12 places (23rd to 11th), the largest rise among established nations. 3 of the top 4 climbers (KOR, JPN, KEN) are Asian or African — matching the Q2 continental shift.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USSR's successor states recover its medal output, or lose ground?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188720"/>
          <a:ext cx="10332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states exceeded the USSR's own historical average (112.2 medals/Games) at first (123 in 1996, peaking at 164 in 2000), then drifted back down to 135 by 2016 as the inherited talent pipeline was not fully replaced.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(dashboard/app.py) lets a reader explore the same dataset live — filter by year range and continent, highlight any single country against its continent's average, and drive a live scatter explorer of career breadth vs. depth.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of career medal totals, top-15 leaderboard, and gold/silver/bronze split for the top 10 countries in the selected filters.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86000"/>
            <a:ext cx="548640" cy="54864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Continental Trends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of continental medal share over time, plus a country-vs-continent-average highlight line for any country the reader picks.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286000"/>
            <a:ext cx="548640" cy="54864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&amp; Efficiency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Host-nation boost by continent, and a live scatter explorer of career total, editions medalled, and gold-conversion ratio.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2064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</a:t>
            </a:r>
            <a:r>
              <a:rPr lang="en-US" sz="1300" dirty="0">
                <a:solidFill>
                  <a:srgbClr val="D8E1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</a:t>
            </a:r>
            <a:r>
              <a:rPr lang="en-US" sz="1300" dirty="0" smtClean="0">
                <a:solidFill>
                  <a:srgbClr val="D8E1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olympics-medals-final-project-rwuxvhxn3cbpdntlkieyzo.streamlit.app</a:t>
            </a:r>
            <a:endParaRPr lang="en-US" sz="1300" dirty="0" smtClean="0">
              <a:solidFill>
                <a:srgbClr val="D8E1E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 smtClean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/>
              </a:rPr>
              <a:t>https://github.com/Akbar40/Olympics-medals-final-project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Submission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Notebook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84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analysis.ipynb — 10 questions, 10 Plotly visuals, CVD-safe &amp; annotated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60" dirty="0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084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 — interactive Streamlit app, deploy to Streamlit Community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960" dirty="0"/>
          </a:p>
        </p:txBody>
      </p:sp>
      <p:sp>
        <p:nvSpPr>
          <p:cNvPr id="16" name="Text 14"/>
          <p:cNvSpPr/>
          <p:nvPr/>
        </p:nvSpPr>
        <p:spPr>
          <a:xfrm>
            <a:off x="169164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05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deck, exported to PDF, with dashboard snapshots and live 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56616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960" dirty="0"/>
          </a:p>
        </p:txBody>
      </p:sp>
      <p:sp>
        <p:nvSpPr>
          <p:cNvPr id="21" name="Text 19"/>
          <p:cNvSpPr/>
          <p:nvPr/>
        </p:nvSpPr>
        <p:spPr>
          <a:xfrm>
            <a:off x="736092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4005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 </a:t>
            </a:r>
            <a:r>
              <a:rPr lang="en-US" sz="1200" dirty="0" smtClean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and this deck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Geopolitics leaves a measurable trace on sport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War bloc dynamics, the Soviet collapse, and the century-long European-to-Asian power shift all show up directly in the numbers, not just the history books.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still helps, but scale has diluted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boost is real in every era, but 1,000%-of-average effects from 1896 are gone in a globalised field — and hosting amplifies existing strength more than it lifts the weak.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participation hasn't meant equal outcomes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5029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nations medal today than ever before, but the top 10 still take roughly half of all medals — globalisation broadened the field without levelling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1508</Words>
  <Application>Microsoft Office PowerPoint</Application>
  <PresentationFormat>Widescreen</PresentationFormat>
  <Paragraphs>163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Akbar Ali</cp:lastModifiedBy>
  <cp:revision>3</cp:revision>
  <dcterms:created xsi:type="dcterms:W3CDTF">2026-07-26T18:07:23Z</dcterms:created>
  <dcterms:modified xsi:type="dcterms:W3CDTF">2026-07-30T21:01:03Z</dcterms:modified>
</cp:coreProperties>
</file>