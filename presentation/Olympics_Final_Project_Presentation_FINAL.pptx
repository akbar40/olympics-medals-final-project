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7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8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9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0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4A5560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4A5560"/>
                </a:solidFill>
                <a:latin typeface="Calibri"/>
              </a:rPr>
              <a:t>Mean share of a Games' medals: host nation vs. everyone else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Host nation</c:v>
                </c:pt>
              </c:strCache>
            </c:strRef>
          </c:tx>
          <c:spPr>
            <a:solidFill>
              <a:srgbClr val="C1443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4A556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Founding
(1896-1912)</c:v>
                  </c:pt>
                  <c:pt idx="1">
                    <c:v>Interwar
(1920-1936)</c:v>
                  </c:pt>
                  <c:pt idx="2">
                    <c:v>Cold War
(1948-1988)</c:v>
                  </c:pt>
                  <c:pt idx="3">
                    <c:v>Post-Cold War
(1992-2000)</c:v>
                  </c:pt>
                  <c:pt idx="4">
                    <c:v>Modern
(2004-2016)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46.35</c:v>
                </c:pt>
                <c:pt idx="1">
                  <c:v>15.99</c:v>
                </c:pt>
                <c:pt idx="2">
                  <c:v>9.37</c:v>
                </c:pt>
                <c:pt idx="3">
                  <c:v>6.99</c:v>
                </c:pt>
                <c:pt idx="4">
                  <c:v>5.27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Everyone else</c:v>
                </c:pt>
              </c:strCache>
            </c:strRef>
          </c:tx>
          <c:spPr>
            <a:solidFill>
              <a:srgbClr val="B0B0B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4A556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Founding
(1896-1912)</c:v>
                  </c:pt>
                  <c:pt idx="1">
                    <c:v>Interwar
(1920-1936)</c:v>
                  </c:pt>
                  <c:pt idx="2">
                    <c:v>Cold War
(1948-1988)</c:v>
                  </c:pt>
                  <c:pt idx="3">
                    <c:v>Post-Cold War
(1992-2000)</c:v>
                  </c:pt>
                  <c:pt idx="4">
                    <c:v>Modern
(2004-2016)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3.78</c:v>
                </c:pt>
                <c:pt idx="1">
                  <c:v>2.96</c:v>
                </c:pt>
                <c:pt idx="2">
                  <c:v>2.17</c:v>
                </c:pt>
                <c:pt idx="3">
                  <c:v>1.27</c:v>
                </c:pt>
                <c:pt idx="4">
                  <c:v>1.32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4A556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4A556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A556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4A5560"/>
                    </a:solidFill>
                    <a:latin typeface="Arial"/>
                  </a:rPr>
                  <a:t>Mean medal share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4A5560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4A5560"/>
                </a:solidFill>
                <a:latin typeface="Calibri"/>
              </a:rPr>
              <a:t>Continental share of total medals awarded, by snapshot year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1896</c:v>
                </c:pt>
              </c:strCache>
            </c:strRef>
          </c:tx>
          <c:spPr>
            <a:solidFill>
              <a:srgbClr val="0F2A4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4A556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Africa</c:v>
                  </c:pt>
                  <c:pt idx="1">
                    <c:v>Americas</c:v>
                  </c:pt>
                  <c:pt idx="2">
                    <c:v>Asia</c:v>
                  </c:pt>
                  <c:pt idx="3">
                    <c:v>Europe</c:v>
                  </c:pt>
                  <c:pt idx="4">
                    <c:v>Mixed/Other</c:v>
                  </c:pt>
                  <c:pt idx="5">
                    <c:v>Oceania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16.4</c:v>
                </c:pt>
                <c:pt idx="2">
                  <c:v>0</c:v>
                </c:pt>
                <c:pt idx="3">
                  <c:v>80.3</c:v>
                </c:pt>
                <c:pt idx="4">
                  <c:v>1.6</c:v>
                </c:pt>
                <c:pt idx="5">
                  <c:v>1.6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1956</c:v>
                </c:pt>
              </c:strCache>
            </c:strRef>
          </c:tx>
          <c:spPr>
            <a:solidFill>
              <a:srgbClr val="1B5E6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4A556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Africa</c:v>
                  </c:pt>
                  <c:pt idx="1">
                    <c:v>Americas</c:v>
                  </c:pt>
                  <c:pt idx="2">
                    <c:v>Asia</c:v>
                  </c:pt>
                  <c:pt idx="3">
                    <c:v>Europe</c:v>
                  </c:pt>
                  <c:pt idx="4">
                    <c:v>Mixed/Other</c:v>
                  </c:pt>
                  <c:pt idx="5">
                    <c:v>Oceania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0.9</c:v>
                </c:pt>
                <c:pt idx="1">
                  <c:v>20</c:v>
                </c:pt>
                <c:pt idx="2">
                  <c:v>6.2</c:v>
                </c:pt>
                <c:pt idx="3">
                  <c:v>64.7</c:v>
                </c:pt>
                <c:pt idx="4">
                  <c:v>0</c:v>
                </c:pt>
                <c:pt idx="5">
                  <c:v>8.2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2016</c:v>
                </c:pt>
              </c:strCache>
            </c:strRef>
          </c:tx>
          <c:spPr>
            <a:solidFill>
              <a:srgbClr val="C99A2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4A556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Africa</c:v>
                  </c:pt>
                  <c:pt idx="1">
                    <c:v>Americas</c:v>
                  </c:pt>
                  <c:pt idx="2">
                    <c:v>Asia</c:v>
                  </c:pt>
                  <c:pt idx="3">
                    <c:v>Europe</c:v>
                  </c:pt>
                  <c:pt idx="4">
                    <c:v>Mixed/Other</c:v>
                  </c:pt>
                  <c:pt idx="5">
                    <c:v>Oceania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3.5</c:v>
                </c:pt>
                <c:pt idx="1">
                  <c:v>22.1</c:v>
                </c:pt>
                <c:pt idx="2">
                  <c:v>20.6</c:v>
                </c:pt>
                <c:pt idx="3">
                  <c:v>48.5</c:v>
                </c:pt>
                <c:pt idx="4">
                  <c:v>0</c:v>
                </c:pt>
                <c:pt idx="5">
                  <c:v>5.3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4A556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4A556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A556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4A5560"/>
                    </a:solidFill>
                    <a:latin typeface="Arial"/>
                  </a:rPr>
                  <a:t>Share of medals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4A5560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4A5560"/>
                </a:solidFill>
                <a:latin typeface="Calibri"/>
              </a:rPr>
              <a:t>Mean gold ÷ total-medal ratio per country-edition, 1948-1988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Gold ratio</c:v>
                </c:pt>
              </c:strCache>
            </c:strRef>
          </c:tx>
          <c:spPr>
            <a:solidFill>
              <a:srgbClr val="C1443C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Communist Bloc</c:v>
                  </c:pt>
                  <c:pt idx="1">
                    <c:v>Western Bloc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0.29</c:v>
                </c:pt>
                <c:pt idx="1">
                  <c:v>0.288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3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4A556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4A5560"/>
                </a:solidFill>
                <a:latin typeface="Calibri"/>
              </a:defRPr>
            </a:pPr>
            <a:r>
              <a:rPr sz="1250" b="0" i="0" u="none" strike="noStrike">
                <a:solidFill>
                  <a:srgbClr val="4A5560"/>
                </a:solidFill>
                <a:latin typeface="Calibri"/>
              </a:rPr>
              <a:t>Top-10 share of medals vs. number of competing nations (2016 excluded — see data note)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Top-10 nations' medal share (%)</c:v>
                </c:pt>
              </c:strCache>
            </c:strRef>
          </c:tx>
          <c:spPr>
            <a:solidFill>
              <a:srgbClr val="C1443C"/>
            </a:solidFill>
            <a:ln w="31750" cap="flat">
              <a:solidFill>
                <a:srgbClr val="C1443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C1443C"/>
              </a:solidFill>
              <a:ln w="9525" cap="flat">
                <a:solidFill>
                  <a:srgbClr val="C144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Sheet1!$A$2:$A$28</c:f>
              <c:multiLvlStrCache>
                <c:ptCount val="27"/>
                <c:lvl>
                  <c:pt idx="0">
                    <c:v>1896</c:v>
                  </c:pt>
                  <c:pt idx="1">
                    <c:v>1900</c:v>
                  </c:pt>
                  <c:pt idx="2">
                    <c:v>1904</c:v>
                  </c:pt>
                  <c:pt idx="3">
                    <c:v>1908</c:v>
                  </c:pt>
                  <c:pt idx="4">
                    <c:v>1912</c:v>
                  </c:pt>
                  <c:pt idx="5">
                    <c:v>1920</c:v>
                  </c:pt>
                  <c:pt idx="6">
                    <c:v>1924</c:v>
                  </c:pt>
                  <c:pt idx="7">
                    <c:v>1928</c:v>
                  </c:pt>
                  <c:pt idx="8">
                    <c:v>1932</c:v>
                  </c:pt>
                  <c:pt idx="9">
                    <c:v>1936</c:v>
                  </c:pt>
                  <c:pt idx="10">
                    <c:v>1948</c:v>
                  </c:pt>
                  <c:pt idx="11">
                    <c:v>1952</c:v>
                  </c:pt>
                  <c:pt idx="12">
                    <c:v>1956</c:v>
                  </c:pt>
                  <c:pt idx="13">
                    <c:v>1960</c:v>
                  </c:pt>
                  <c:pt idx="14">
                    <c:v>1964</c:v>
                  </c:pt>
                  <c:pt idx="15">
                    <c:v>1968</c:v>
                  </c:pt>
                  <c:pt idx="16">
                    <c:v>1972</c:v>
                  </c:pt>
                  <c:pt idx="17">
                    <c:v>1976</c:v>
                  </c:pt>
                  <c:pt idx="18">
                    <c:v>1980</c:v>
                  </c:pt>
                  <c:pt idx="19">
                    <c:v>1984</c:v>
                  </c:pt>
                  <c:pt idx="20">
                    <c:v>1988</c:v>
                  </c:pt>
                  <c:pt idx="21">
                    <c:v>1992</c:v>
                  </c:pt>
                  <c:pt idx="22">
                    <c:v>1996</c:v>
                  </c:pt>
                  <c:pt idx="23">
                    <c:v>2000</c:v>
                  </c:pt>
                  <c:pt idx="24">
                    <c:v>2004</c:v>
                  </c:pt>
                  <c:pt idx="25">
                    <c:v>2008</c:v>
                  </c:pt>
                  <c:pt idx="26">
                    <c:v>2012</c:v>
                  </c:pt>
                </c:lvl>
              </c:multiLvlStrCache>
            </c:multiLvlStrRef>
          </c:cat>
          <c:val>
            <c:numRef>
              <c:f>Sheet1!$B$2:$B$28</c:f>
              <c:numCache>
                <c:formatCode>General</c:formatCode>
                <c:ptCount val="27"/>
                <c:pt idx="0">
                  <c:v>98.4</c:v>
                </c:pt>
                <c:pt idx="1">
                  <c:v>90.8</c:v>
                </c:pt>
                <c:pt idx="2">
                  <c:v>100</c:v>
                </c:pt>
                <c:pt idx="3">
                  <c:v>91.4</c:v>
                </c:pt>
                <c:pt idx="4">
                  <c:v>86.8</c:v>
                </c:pt>
                <c:pt idx="5">
                  <c:v>89.3</c:v>
                </c:pt>
                <c:pt idx="6">
                  <c:v>80.9</c:v>
                </c:pt>
                <c:pt idx="7">
                  <c:v>75</c:v>
                </c:pt>
                <c:pt idx="8">
                  <c:v>82.7</c:v>
                </c:pt>
                <c:pt idx="9">
                  <c:v>75.1</c:v>
                </c:pt>
                <c:pt idx="10">
                  <c:v>75.2</c:v>
                </c:pt>
                <c:pt idx="11">
                  <c:v>73.2</c:v>
                </c:pt>
                <c:pt idx="12">
                  <c:v>76.7</c:v>
                </c:pt>
                <c:pt idx="13">
                  <c:v>79</c:v>
                </c:pt>
                <c:pt idx="14">
                  <c:v>77</c:v>
                </c:pt>
                <c:pt idx="15">
                  <c:v>70.6</c:v>
                </c:pt>
                <c:pt idx="16">
                  <c:v>73.5</c:v>
                </c:pt>
                <c:pt idx="17">
                  <c:v>78.8</c:v>
                </c:pt>
                <c:pt idx="18">
                  <c:v>82.6</c:v>
                </c:pt>
                <c:pt idx="19">
                  <c:v>74.9</c:v>
                </c:pt>
                <c:pt idx="20">
                  <c:v>72.4</c:v>
                </c:pt>
                <c:pt idx="21">
                  <c:v>64.3</c:v>
                </c:pt>
                <c:pt idx="22">
                  <c:v>55.5</c:v>
                </c:pt>
                <c:pt idx="23">
                  <c:v>55.1</c:v>
                </c:pt>
                <c:pt idx="24">
                  <c:v>55.6</c:v>
                </c:pt>
                <c:pt idx="25">
                  <c:v>56.6</c:v>
                </c:pt>
                <c:pt idx="26">
                  <c:v>55.8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Number of competing nations</c:v>
                </c:pt>
              </c:strCache>
            </c:strRef>
          </c:tx>
          <c:spPr>
            <a:solidFill>
              <a:srgbClr val="0F2A4A"/>
            </a:solidFill>
            <a:ln w="31750" cap="flat">
              <a:solidFill>
                <a:srgbClr val="0F2A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0F2A4A"/>
              </a:solidFill>
              <a:ln w="9525" cap="flat">
                <a:solidFill>
                  <a:srgbClr val="0F2A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Sheet1!$A$2:$A$28</c:f>
              <c:multiLvlStrCache>
                <c:ptCount val="27"/>
                <c:lvl>
                  <c:pt idx="0">
                    <c:v>1896</c:v>
                  </c:pt>
                  <c:pt idx="1">
                    <c:v>1900</c:v>
                  </c:pt>
                  <c:pt idx="2">
                    <c:v>1904</c:v>
                  </c:pt>
                  <c:pt idx="3">
                    <c:v>1908</c:v>
                  </c:pt>
                  <c:pt idx="4">
                    <c:v>1912</c:v>
                  </c:pt>
                  <c:pt idx="5">
                    <c:v>1920</c:v>
                  </c:pt>
                  <c:pt idx="6">
                    <c:v>1924</c:v>
                  </c:pt>
                  <c:pt idx="7">
                    <c:v>1928</c:v>
                  </c:pt>
                  <c:pt idx="8">
                    <c:v>1932</c:v>
                  </c:pt>
                  <c:pt idx="9">
                    <c:v>1936</c:v>
                  </c:pt>
                  <c:pt idx="10">
                    <c:v>1948</c:v>
                  </c:pt>
                  <c:pt idx="11">
                    <c:v>1952</c:v>
                  </c:pt>
                  <c:pt idx="12">
                    <c:v>1956</c:v>
                  </c:pt>
                  <c:pt idx="13">
                    <c:v>1960</c:v>
                  </c:pt>
                  <c:pt idx="14">
                    <c:v>1964</c:v>
                  </c:pt>
                  <c:pt idx="15">
                    <c:v>1968</c:v>
                  </c:pt>
                  <c:pt idx="16">
                    <c:v>1972</c:v>
                  </c:pt>
                  <c:pt idx="17">
                    <c:v>1976</c:v>
                  </c:pt>
                  <c:pt idx="18">
                    <c:v>1980</c:v>
                  </c:pt>
                  <c:pt idx="19">
                    <c:v>1984</c:v>
                  </c:pt>
                  <c:pt idx="20">
                    <c:v>1988</c:v>
                  </c:pt>
                  <c:pt idx="21">
                    <c:v>1992</c:v>
                  </c:pt>
                  <c:pt idx="22">
                    <c:v>1996</c:v>
                  </c:pt>
                  <c:pt idx="23">
                    <c:v>2000</c:v>
                  </c:pt>
                  <c:pt idx="24">
                    <c:v>2004</c:v>
                  </c:pt>
                  <c:pt idx="25">
                    <c:v>2008</c:v>
                  </c:pt>
                  <c:pt idx="26">
                    <c:v>2012</c:v>
                  </c:pt>
                </c:lvl>
              </c:multiLvlStrCache>
            </c:multiLvlStrRef>
          </c:cat>
          <c:val>
            <c:numRef>
              <c:f>Sheet1!$C$2:$C$28</c:f>
              <c:numCache>
                <c:formatCode>General</c:formatCode>
                <c:ptCount val="27"/>
                <c:pt idx="0">
                  <c:v>11</c:v>
                </c:pt>
                <c:pt idx="1">
                  <c:v>19</c:v>
                </c:pt>
                <c:pt idx="2">
                  <c:v>8</c:v>
                </c:pt>
                <c:pt idx="3">
                  <c:v>19</c:v>
                </c:pt>
                <c:pt idx="4">
                  <c:v>19</c:v>
                </c:pt>
                <c:pt idx="5">
                  <c:v>22</c:v>
                </c:pt>
                <c:pt idx="6">
                  <c:v>31</c:v>
                </c:pt>
                <c:pt idx="7">
                  <c:v>34</c:v>
                </c:pt>
                <c:pt idx="8">
                  <c:v>28</c:v>
                </c:pt>
                <c:pt idx="9">
                  <c:v>32</c:v>
                </c:pt>
                <c:pt idx="10">
                  <c:v>38</c:v>
                </c:pt>
                <c:pt idx="11">
                  <c:v>43</c:v>
                </c:pt>
                <c:pt idx="12">
                  <c:v>37</c:v>
                </c:pt>
                <c:pt idx="13">
                  <c:v>44</c:v>
                </c:pt>
                <c:pt idx="14">
                  <c:v>41</c:v>
                </c:pt>
                <c:pt idx="15">
                  <c:v>44</c:v>
                </c:pt>
                <c:pt idx="16">
                  <c:v>48</c:v>
                </c:pt>
                <c:pt idx="17">
                  <c:v>41</c:v>
                </c:pt>
                <c:pt idx="18">
                  <c:v>36</c:v>
                </c:pt>
                <c:pt idx="19">
                  <c:v>47</c:v>
                </c:pt>
                <c:pt idx="20">
                  <c:v>52</c:v>
                </c:pt>
                <c:pt idx="21">
                  <c:v>64</c:v>
                </c:pt>
                <c:pt idx="22">
                  <c:v>79</c:v>
                </c:pt>
                <c:pt idx="23">
                  <c:v>80</c:v>
                </c:pt>
                <c:pt idx="24">
                  <c:v>74</c:v>
                </c:pt>
                <c:pt idx="25">
                  <c:v>87</c:v>
                </c:pt>
                <c:pt idx="26">
                  <c:v>86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900" b="0" i="0" u="none" strike="noStrike">
                <a:solidFill>
                  <a:srgbClr val="4A556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4A556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4A5560"/>
                    </a:solidFill>
                    <a:latin typeface="Arial"/>
                  </a:rPr>
                  <a:t>Top-10 share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  <c:min val="0"/>
        </c:scaling>
        <c:delete val="0"/>
        <c:axPos val="r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4A556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4A5560"/>
                    </a:solidFill>
                    <a:latin typeface="Arial"/>
                  </a:rPr>
                  <a:t>Nations competing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0"/>
                </a:solidFill>
                <a:latin typeface="Arial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900" b="0" i="0" u="none" strike="noStrike">
                <a:solidFill>
                  <a:srgbClr val="4A5560"/>
                </a:solidFill>
                <a:latin typeface="Calibri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4A5560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4A5560"/>
                </a:solidFill>
                <a:latin typeface="Calibri"/>
              </a:rPr>
              <a:t>Mean gold ÷ total-medal ratio: historical entity vs. modern successor state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Defunct system</c:v>
                </c:pt>
              </c:strCache>
            </c:strRef>
          </c:tx>
          <c:spPr>
            <a:solidFill>
              <a:srgbClr val="C1443C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4A556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USSR → Russia</c:v>
                  </c:pt>
                  <c:pt idx="1">
                    <c:v>East Germany → Germany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0.384</c:v>
                </c:pt>
                <c:pt idx="1">
                  <c:v>0.369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Modern successor</c:v>
                </c:pt>
              </c:strCache>
            </c:strRef>
          </c:tx>
          <c:spPr>
            <a:solidFill>
              <a:srgbClr val="56B4E9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4A556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USSR → Russia</c:v>
                  </c:pt>
                  <c:pt idx="1">
                    <c:v>East Germany → Germany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0.304</c:v>
                </c:pt>
                <c:pt idx="1">
                  <c:v>0.322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4A556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4A5560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4A5560"/>
                </a:solidFill>
                <a:latin typeface="Calibri"/>
              </a:rPr>
              <a:t>Mean medal share vs. year-to-year volatility (std. dev.), by continent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share of medals (%)</c:v>
                </c:pt>
              </c:strCache>
            </c:strRef>
          </c:tx>
          <c:spPr>
            <a:solidFill>
              <a:srgbClr val="1B5E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Africa</c:v>
                  </c:pt>
                  <c:pt idx="1">
                    <c:v>Americas</c:v>
                  </c:pt>
                  <c:pt idx="2">
                    <c:v>Asia</c:v>
                  </c:pt>
                  <c:pt idx="3">
                    <c:v>Europe</c:v>
                  </c:pt>
                  <c:pt idx="4">
                    <c:v>Oceania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2.37</c:v>
                </c:pt>
                <c:pt idx="1">
                  <c:v>23.91</c:v>
                </c:pt>
                <c:pt idx="2">
                  <c:v>9.1</c:v>
                </c:pt>
                <c:pt idx="3">
                  <c:v>62.72</c:v>
                </c:pt>
                <c:pt idx="4">
                  <c:v>3.5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Volatility (std. dev., pct points)</c:v>
                </c:pt>
              </c:strCache>
            </c:strRef>
          </c:tx>
          <c:spPr>
            <a:solidFill>
              <a:srgbClr val="C1443C"/>
            </a:solidFill>
            <a:ln w="31750" cap="flat">
              <a:solidFill>
                <a:srgbClr val="C1443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C1443C"/>
              </a:solidFill>
              <a:ln w="9525" cap="flat">
                <a:solidFill>
                  <a:srgbClr val="C144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Africa</c:v>
                  </c:pt>
                  <c:pt idx="1">
                    <c:v>Americas</c:v>
                  </c:pt>
                  <c:pt idx="2">
                    <c:v>Asia</c:v>
                  </c:pt>
                  <c:pt idx="3">
                    <c:v>Europe</c:v>
                  </c:pt>
                  <c:pt idx="4">
                    <c:v>Oceania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1.16</c:v>
                </c:pt>
                <c:pt idx="1">
                  <c:v>14.46</c:v>
                </c:pt>
                <c:pt idx="2">
                  <c:v>7.31</c:v>
                </c:pt>
                <c:pt idx="3">
                  <c:v>15.82</c:v>
                </c:pt>
                <c:pt idx="4">
                  <c:v>2.09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4A556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4A5560"/>
                    </a:solidFill>
                    <a:latin typeface="Arial"/>
                  </a:rPr>
                  <a:t>Mean share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  <c:min val="0"/>
        </c:scaling>
        <c:delete val="0"/>
        <c:axPos val="r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4A556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4A5560"/>
                    </a:solidFill>
                    <a:latin typeface="Arial"/>
                  </a:rPr>
                  <a:t>Volatility (std. dev.)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0"/>
                </a:solidFill>
                <a:latin typeface="Arial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0"/>
                </a:solidFill>
                <a:latin typeface="Calibri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4A5560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4A5560"/>
                </a:solidFill>
                <a:latin typeface="Calibri"/>
              </a:rPr>
              <a:t>Host-year medal share minus non-host-year medal share, by continent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Host-year boost (pct points)</c:v>
                </c:pt>
              </c:strCache>
            </c:strRef>
          </c:tx>
          <c:spPr>
            <a:solidFill>
              <a:srgbClr val="C99A2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A556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Oceania</c:v>
                  </c:pt>
                  <c:pt idx="1">
                    <c:v>Asia</c:v>
                  </c:pt>
                  <c:pt idx="2">
                    <c:v>Europe</c:v>
                  </c:pt>
                  <c:pt idx="3">
                    <c:v>Americas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5.3</c:v>
                </c:pt>
                <c:pt idx="1">
                  <c:v>5.9</c:v>
                </c:pt>
                <c:pt idx="2">
                  <c:v>13.8</c:v>
                </c:pt>
                <c:pt idx="3">
                  <c:v>20.7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4A556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4A556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A556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4A5560"/>
                    </a:solidFill>
                    <a:latin typeface="Arial"/>
                  </a:rPr>
                  <a:t>Boost (percentage points)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4A5560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4A5560"/>
                </a:solidFill>
                <a:latin typeface="Calibri"/>
              </a:rPr>
              <a:t>Career total medals vs. number of editions medalled at, top 8 nations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Career total medals</c:v>
                </c:pt>
              </c:strCache>
            </c:strRef>
          </c:tx>
          <c:spPr>
            <a:solidFill>
              <a:srgbClr val="0F2A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USA</c:v>
                  </c:pt>
                  <c:pt idx="1">
                    <c:v>URS</c:v>
                  </c:pt>
                  <c:pt idx="2">
                    <c:v>GBR</c:v>
                  </c:pt>
                  <c:pt idx="3">
                    <c:v>GER</c:v>
                  </c:pt>
                  <c:pt idx="4">
                    <c:v>FRA</c:v>
                  </c:pt>
                  <c:pt idx="5">
                    <c:v>ITA</c:v>
                  </c:pt>
                  <c:pt idx="6">
                    <c:v>CHN</c:v>
                  </c:pt>
                  <c:pt idx="7">
                    <c:v>HUN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2542</c:v>
                </c:pt>
                <c:pt idx="1">
                  <c:v>1010</c:v>
                </c:pt>
                <c:pt idx="2">
                  <c:v>864</c:v>
                </c:pt>
                <c:pt idx="3">
                  <c:v>754</c:v>
                </c:pt>
                <c:pt idx="4">
                  <c:v>739</c:v>
                </c:pt>
                <c:pt idx="5">
                  <c:v>589</c:v>
                </c:pt>
                <c:pt idx="6">
                  <c:v>546</c:v>
                </c:pt>
                <c:pt idx="7">
                  <c:v>495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Editions medalled at (breadth)</c:v>
                </c:pt>
              </c:strCache>
            </c:strRef>
          </c:tx>
          <c:spPr>
            <a:solidFill>
              <a:srgbClr val="C99A2E"/>
            </a:solidFill>
            <a:ln w="31750" cap="flat">
              <a:solidFill>
                <a:srgbClr val="C99A2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C99A2E"/>
              </a:solidFill>
              <a:ln w="9525" cap="flat">
                <a:solidFill>
                  <a:srgbClr val="C99A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USA</c:v>
                  </c:pt>
                  <c:pt idx="1">
                    <c:v>URS</c:v>
                  </c:pt>
                  <c:pt idx="2">
                    <c:v>GBR</c:v>
                  </c:pt>
                  <c:pt idx="3">
                    <c:v>GER</c:v>
                  </c:pt>
                  <c:pt idx="4">
                    <c:v>FRA</c:v>
                  </c:pt>
                  <c:pt idx="5">
                    <c:v>ITA</c:v>
                  </c:pt>
                  <c:pt idx="6">
                    <c:v>CHN</c:v>
                  </c:pt>
                  <c:pt idx="7">
                    <c:v>HUN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27</c:v>
                </c:pt>
                <c:pt idx="1">
                  <c:v>9</c:v>
                </c:pt>
                <c:pt idx="2">
                  <c:v>28</c:v>
                </c:pt>
                <c:pt idx="3">
                  <c:v>19</c:v>
                </c:pt>
                <c:pt idx="4">
                  <c:v>27</c:v>
                </c:pt>
                <c:pt idx="5">
                  <c:v>26</c:v>
                </c:pt>
                <c:pt idx="6">
                  <c:v>9</c:v>
                </c:pt>
                <c:pt idx="7">
                  <c:v>26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4A556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4A5560"/>
                    </a:solidFill>
                    <a:latin typeface="Arial"/>
                  </a:rPr>
                  <a:t>Career total medals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  <c:min val="0"/>
        </c:scaling>
        <c:delete val="0"/>
        <c:axPos val="r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4A556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4A5560"/>
                    </a:solidFill>
                    <a:latin typeface="Arial"/>
                  </a:rPr>
                  <a:t>Editions medalled at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0"/>
                </a:solidFill>
                <a:latin typeface="Arial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0"/>
                </a:solidFill>
                <a:latin typeface="Calibri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4A5560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4A5560"/>
                </a:solidFill>
                <a:latin typeface="Calibri"/>
              </a:rPr>
              <a:t>Rank at first vs. most recent Games appearance, nations in ≥ 8 editions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Rank places climbed</c:v>
                </c:pt>
              </c:strCache>
            </c:strRef>
          </c:tx>
          <c:spPr>
            <a:solidFill>
              <a:srgbClr val="1B5E6B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4A556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BRA</c:v>
                  </c:pt>
                  <c:pt idx="1">
                    <c:v>YUG</c:v>
                  </c:pt>
                  <c:pt idx="2">
                    <c:v>CHN</c:v>
                  </c:pt>
                  <c:pt idx="3">
                    <c:v>NZL</c:v>
                  </c:pt>
                  <c:pt idx="4">
                    <c:v>KEN</c:v>
                  </c:pt>
                  <c:pt idx="5">
                    <c:v>JPN</c:v>
                  </c:pt>
                  <c:pt idx="6">
                    <c:v>RUS</c:v>
                  </c:pt>
                  <c:pt idx="7">
                    <c:v>KOR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4A556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4A556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A556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4A5560"/>
                    </a:solidFill>
                    <a:latin typeface="Arial"/>
                  </a:rPr>
                  <a:t>Places climbed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4A5560"/>
                </a:solidFill>
                <a:latin typeface="Calibri"/>
              </a:defRPr>
            </a:pPr>
            <a:r>
              <a:rPr sz="1250" b="0" i="0" u="none" strike="noStrike">
                <a:solidFill>
                  <a:srgbClr val="4A5560"/>
                </a:solidFill>
                <a:latin typeface="Calibri"/>
              </a:rPr>
              <a:t>Combined total medals of 14 former-Soviet states vs. the USSR's 1952-1988 average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Successor states, combined total</c:v>
                </c:pt>
              </c:strCache>
            </c:strRef>
          </c:tx>
          <c:spPr>
            <a:solidFill>
              <a:srgbClr val="0F2A4A"/>
            </a:solidFill>
            <a:ln w="38100" cap="flat">
              <a:solidFill>
                <a:srgbClr val="0F2A4A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4A556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F2A4A"/>
              </a:solidFill>
              <a:ln w="9525" cap="flat">
                <a:solidFill>
                  <a:srgbClr val="0F2A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1996</c:v>
                  </c:pt>
                  <c:pt idx="1">
                    <c:v>2000</c:v>
                  </c:pt>
                  <c:pt idx="2">
                    <c:v>2004</c:v>
                  </c:pt>
                  <c:pt idx="3">
                    <c:v>2008</c:v>
                  </c:pt>
                  <c:pt idx="4">
                    <c:v>2012</c:v>
                  </c:pt>
                  <c:pt idx="5">
                    <c:v>2016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123</c:v>
                </c:pt>
                <c:pt idx="1">
                  <c:v>164</c:v>
                </c:pt>
                <c:pt idx="2">
                  <c:v>157</c:v>
                </c:pt>
                <c:pt idx="3">
                  <c:v>143</c:v>
                </c:pt>
                <c:pt idx="4">
                  <c:v>135</c:v>
                </c:pt>
                <c:pt idx="5">
                  <c:v>135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b="0" i="0" strike="noStrike" sz="1100" u="none">
                  <a:solidFill>
                    <a:srgbClr val="4A556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A556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4A5560"/>
                    </a:solidFill>
                    <a:latin typeface="Arial"/>
                  </a:rPr>
                  <a:t>Total medals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16375F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754880"/>
            <a:ext cx="3291840" cy="3291840"/>
          </a:xfrm>
          <a:prstGeom prst="ellipse">
            <a:avLst/>
          </a:prstGeom>
          <a:solidFill>
            <a:srgbClr val="16375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 YEARS OF THE SUMMER OLYMPICS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9260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Geopolitics, Hosts, and Medal Power — 1896 to 2016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4480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Individual Project — Data Visualization, Summer 2026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4937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Summer Olympiads  ·  146 countries &amp; historical entities  ·  1,208 country-edition records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Dataset: A Century of Medal Tallies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country per Games, 1896-2016 (1916/1940/1944 absent — cancelled for the two World Wars). Every row carries: medal counts, continent, host-nation flag, historical era, and a defunct-political-entity flag (Soviet Union, East/West Germany, Czechoslovakia, Yugoslavia, and more), sourced from a public GitHub mirror and cross-referenced against the IOC's NOC code list.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283464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4F5F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9260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72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Olympiads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19272" y="283464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4F5F6"/>
          </a:solidFill>
          <a:ln/>
        </p:spPr>
      </p:sp>
      <p:sp>
        <p:nvSpPr>
          <p:cNvPr id="8" name="Text 6"/>
          <p:cNvSpPr/>
          <p:nvPr/>
        </p:nvSpPr>
        <p:spPr>
          <a:xfrm>
            <a:off x="3319272" y="29260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55E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146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319272" y="3657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&amp; historical NOCs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81344" y="283464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4F5F6"/>
          </a:solidFill>
          <a:ln/>
        </p:spPr>
      </p:sp>
      <p:sp>
        <p:nvSpPr>
          <p:cNvPr id="11" name="Text 9"/>
          <p:cNvSpPr/>
          <p:nvPr/>
        </p:nvSpPr>
        <p:spPr>
          <a:xfrm>
            <a:off x="6181344" y="29260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9E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181344" y="3657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Continents tracked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43416" y="283464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4F5F6"/>
          </a:solidFill>
          <a:ln/>
        </p:spPr>
      </p:sp>
      <p:sp>
        <p:nvSpPr>
          <p:cNvPr id="14" name="Text 12"/>
          <p:cNvSpPr/>
          <p:nvPr/>
        </p:nvSpPr>
        <p:spPr>
          <a:xfrm>
            <a:off x="9043416" y="29260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043416" y="3657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history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45720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14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Data-completeness note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" y="49377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2016 Rio source file is missing roughly 40 low-medal-count countries (a fetch-size limitation upstream) — every country of real analytical consequence is present, and any chart that depends on a complete country count is explicitly restricted or footnoted throughout this deck and the analysis notebook.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Years of the Summer Olympics · Data Visualization, Summer 2026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94360" cy="594360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80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20" dirty="0"/>
          </a:p>
        </p:txBody>
      </p:sp>
      <p:sp>
        <p:nvSpPr>
          <p:cNvPr id="5" name="Text 3"/>
          <p:cNvSpPr/>
          <p:nvPr/>
        </p:nvSpPr>
        <p:spPr>
          <a:xfrm>
            <a:off x="1371600" y="12344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&amp; clean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206240" y="123444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country-edition medal tallies with an NOC-to-continent lookup; hand-verified host-nation and host-city facts for all 28 editions.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594360" cy="594360"/>
          </a:xfrm>
          <a:prstGeom prst="ellipse">
            <a:avLst/>
          </a:prstGeom>
          <a:solidFill>
            <a:srgbClr val="1B5E6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331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20" dirty="0"/>
          </a:p>
        </p:txBody>
      </p:sp>
      <p:sp>
        <p:nvSpPr>
          <p:cNvPr id="9" name="Text 7"/>
          <p:cNvSpPr/>
          <p:nvPr/>
        </p:nvSpPr>
        <p:spPr>
          <a:xfrm>
            <a:off x="1371600" y="22860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Enrich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206240" y="228600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per-edition rank, medal share, gold-conversion ratio, era buckets, and a defunct-entity flag for historical political teams.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383280"/>
            <a:ext cx="594360" cy="594360"/>
          </a:xfrm>
          <a:prstGeom prst="ellipse">
            <a:avLst/>
          </a:prstGeom>
          <a:solidFill>
            <a:srgbClr val="D55E0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383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20" dirty="0"/>
          </a:p>
        </p:txBody>
      </p:sp>
      <p:sp>
        <p:nvSpPr>
          <p:cNvPr id="13" name="Text 11"/>
          <p:cNvSpPr/>
          <p:nvPr/>
        </p:nvSpPr>
        <p:spPr>
          <a:xfrm>
            <a:off x="1371600" y="33375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206240" y="333756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genuinely multi-dimensional questions — each combines at least a temporal, categorical, and quantitative dimension, not single-variable lookups.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434840"/>
            <a:ext cx="594360" cy="594360"/>
          </a:xfrm>
          <a:prstGeom prst="ellipse">
            <a:avLst/>
          </a:prstGeom>
          <a:solidFill>
            <a:srgbClr val="0F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434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20" dirty="0"/>
          </a:p>
        </p:txBody>
      </p:sp>
      <p:sp>
        <p:nvSpPr>
          <p:cNvPr id="17" name="Text 15"/>
          <p:cNvSpPr/>
          <p:nvPr/>
        </p:nvSpPr>
        <p:spPr>
          <a:xfrm>
            <a:off x="1371600" y="43891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206240" y="438912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explanatory Plotly visuals: colour-blind-safe (Okabe-Ito) palette, decluttered gridlines, and a stated takeaway in every chart title.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Years of the Summer Olympics · Data Visualization, Summer 2026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280160" y="2743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hosting boost a nation's medals — and has the boost shrunk over time?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1124712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62356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/>
          <a:effectLst>
            <a:outerShdw sx="100000" sy="100000" kx="0" ky="0" algn="bl" rotWithShape="0" blurRad="76200" dist="25400" dir="5400000">
              <a:srgbClr val="1A1A1A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85800" y="5623560"/>
            <a:ext cx="10817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</a:t>
            </a:r>
            <a:pPr indent="0" marL="0">
              <a:buNone/>
            </a:pPr>
            <a:r>
              <a:rPr lang="en-US" sz="13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host boost is real in every era but has fallen from ~46% of all medals (1896-1912) to ~5% today, as fields grew from a handful of nations to 80+.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Years of the Summer Olympics · Data Visualization, Summer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280160" y="2743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has the continental balance of Olympic power shifted since 1896?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1124712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62356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/>
          <a:effectLst>
            <a:outerShdw sx="100000" sy="100000" kx="0" ky="0" algn="bl" rotWithShape="0" blurRad="76200" dist="25400" dir="5400000">
              <a:srgbClr val="1A1A1A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85800" y="5623560"/>
            <a:ext cx="10817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</a:t>
            </a:r>
            <a:pPr indent="0" marL="0">
              <a:buNone/>
            </a:pPr>
            <a:r>
              <a:rPr lang="en-US" sz="13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Europe's share fell from 80% (1896) to 48% (2016). The gain went overwhelmingly to Asia — near zero before the 1950s, ~21% by 2016 — not primarily the Americas.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Years of the Summer Olympics · Data Visualization, Summer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280160" y="2743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Myth-check: did the Communist Bloc convert medals to gold more efficiently?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286000" y="1280160"/>
          <a:ext cx="75895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62356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/>
          <a:effectLst>
            <a:outerShdw sx="100000" sy="100000" kx="0" ky="0" algn="bl" rotWithShape="0" blurRad="76200" dist="25400" dir="5400000">
              <a:srgbClr val="1A1A1A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85800" y="5623560"/>
            <a:ext cx="10817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</a:t>
            </a:r>
            <a:pPr indent="0" marL="0">
              <a:buNone/>
            </a:pPr>
            <a:r>
              <a:rPr lang="en-US" sz="13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popular Cold War narrative doesn't hold: Communist Bloc (0.290) and Western Bloc (0.288) converted medals to gold at nearly identical rates. The real difference was volume, not efficiency.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Years of the Summer Olympics · Data Visualization, Summer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280160" y="2743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the field grew 8x, did medal concentration fall at the same pace?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112471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62356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/>
          <a:effectLst>
            <a:outerShdw sx="100000" sy="100000" kx="0" ky="0" algn="bl" rotWithShape="0" blurRad="76200" dist="25400" dir="5400000">
              <a:srgbClr val="1A1A1A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85800" y="5623560"/>
            <a:ext cx="10817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</a:t>
            </a:r>
            <a:pPr indent="0" marL="0">
              <a:buNone/>
            </a:pPr>
            <a:r>
              <a:rPr lang="en-US" sz="13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fell hard, from 98% (1896) to ~55% (2000s), then flattened — even in a global field of 85+ nations, the top 10 still take roughly half of all medals.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Years of the Summer Olympics · Data Visualization, Summer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Q5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280160" y="2743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Were the defunct Cold War powerhouses more efficient than their successors?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1097280" y="1280160"/>
          <a:ext cx="100584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62356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/>
          <a:effectLst>
            <a:outerShdw sx="100000" sy="100000" kx="0" ky="0" algn="bl" rotWithShape="0" blurRad="76200" dist="25400" dir="5400000">
              <a:srgbClr val="1A1A1A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85800" y="5623560"/>
            <a:ext cx="10817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</a:t>
            </a:r>
            <a:pPr indent="0" marL="0">
              <a:buNone/>
            </a:pPr>
            <a:r>
              <a:rPr lang="en-US" sz="13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defunct state-run systems out-converted their successors: USSR 0.384 vs Russia 0.304; East Germany 0.369 vs reunified Germany 0.322 — a real, if modest, efficiency legacy.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Years of the Summer Olympics · Data Visualization, Summer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Q6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280160" y="2743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continent's performance is most volatile, and which most stable?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31520" y="1188720"/>
          <a:ext cx="106984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62356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/>
          <a:effectLst>
            <a:outerShdw sx="100000" sy="100000" kx="0" ky="0" algn="bl" rotWithShape="0" blurRad="76200" dist="25400" dir="5400000">
              <a:srgbClr val="1A1A1A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85800" y="5623560"/>
            <a:ext cx="10817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</a:t>
            </a:r>
            <a:pPr indent="0" marL="0">
              <a:buNone/>
            </a:pPr>
            <a:r>
              <a:rPr lang="en-US" sz="13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 is both the biggest (63%) and most volatile (std 15.8) continent — its share is on a long downward trend, not just noise. Africa and Oceania are small but stable.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Years of the Summer Olympics · Data Visualization, Summer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Q7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280160" y="2743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hosting help weaker continents more, or amplify existing strength?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1371600" y="1280160"/>
          <a:ext cx="94183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62356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/>
          <a:effectLst>
            <a:outerShdw sx="100000" sy="100000" kx="0" ky="0" algn="bl" rotWithShape="0" blurRad="76200" dist="25400" dir="5400000">
              <a:srgbClr val="1A1A1A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85800" y="5623560"/>
            <a:ext cx="10817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</a:t>
            </a:r>
            <a:pPr indent="0" marL="0">
              <a:buNone/>
            </a:pPr>
            <a:r>
              <a:rPr lang="en-US" sz="13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amplifies existing strength most: the Americas (+20.7 pts) and Europe (+13.8 pts) gain far more than Asia (+5.9) or Oceania (+5.3) — it is not primarily an equaliser.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Years of the Summer Olympics · Data Visualization, Summer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Q8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280160" y="2743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Century-long dominance, or a compressed one-era powerhouse?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31520" y="1188720"/>
          <a:ext cx="106984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62356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/>
          <a:effectLst>
            <a:outerShdw sx="100000" sy="100000" kx="0" ky="0" algn="bl" rotWithShape="0" blurRad="76200" dist="25400" dir="5400000">
              <a:srgbClr val="1A1A1A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85800" y="5623560"/>
            <a:ext cx="10817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</a:t>
            </a:r>
            <a:pPr indent="0" marL="0">
              <a:buNone/>
            </a:pPr>
            <a:r>
              <a:rPr lang="en-US" sz="13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and GBR dominate broadly across 27-28 editions. The USSR tells a different story: only 9 editions of existence, yet 1,010 career medals — the highest per-edition rate of any nation.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Years of the Summer Olympics · Data Visualization, Summer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Q9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280160" y="2743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long-tenured nations climbed furthest in the Olympic rankings?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1371600" y="1280160"/>
          <a:ext cx="94183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62356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/>
          <a:effectLst>
            <a:outerShdw sx="100000" sy="100000" kx="0" ky="0" algn="bl" rotWithShape="0" blurRad="76200" dist="25400" dir="5400000">
              <a:srgbClr val="1A1A1A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85800" y="5623560"/>
            <a:ext cx="10817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</a:t>
            </a:r>
            <a:pPr indent="0" marL="0">
              <a:buNone/>
            </a:pPr>
            <a:r>
              <a:rPr lang="en-US" sz="13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Korea climbed 12 places (23rd to 11th), the largest rise among established nations. 3 of the top 4 climbers (KOR, JPN, KEN) are Asian or African — matching the Q2 continental shift.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Years of the Summer Olympics · Data Visualization, Summer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280160" y="2743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Did the USSR's successor states recover its medal output, or lose ground?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914400" y="1188720"/>
          <a:ext cx="103327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62356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F4F5F6"/>
          </a:solidFill>
          <a:ln/>
          <a:effectLst>
            <a:outerShdw sx="100000" sy="100000" kx="0" ky="0" algn="bl" rotWithShape="0" blurRad="76200" dist="25400" dir="5400000">
              <a:srgbClr val="1A1A1A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85800" y="5623560"/>
            <a:ext cx="10817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</a:t>
            </a:r>
            <a:pPr indent="0" marL="0">
              <a:buNone/>
            </a:pPr>
            <a:r>
              <a:rPr lang="en-US" sz="13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Successor states exceeded the USSR's own historical average (112.2 medals/Games) at first (123 in 1996, peaking at 164 in 2000), then drifted back down to 135 by 2016 as the inherited talent pipeline was not fully replaced.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Years of the Summer Olympics · Data Visualization, Summer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Dashboard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Streamlit app (dashboard/app.py) lets a reader explore the same dataset live — filter by year range and continent, highlight any single country against its continent's average, and drive a live scatter explorer of career breadth vs. depth.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3566160" cy="2834640"/>
          </a:xfrm>
          <a:prstGeom prst="roundRect">
            <a:avLst>
              <a:gd name="adj" fmla="val 2581"/>
            </a:avLst>
          </a:prstGeom>
          <a:solidFill>
            <a:srgbClr val="F4F5F6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286000"/>
            <a:ext cx="548640" cy="548640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80" dirty="0"/>
          </a:p>
        </p:txBody>
      </p:sp>
      <p:sp>
        <p:nvSpPr>
          <p:cNvPr id="7" name="Text 5"/>
          <p:cNvSpPr/>
          <p:nvPr/>
        </p:nvSpPr>
        <p:spPr>
          <a:xfrm>
            <a:off x="685800" y="26974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15468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Choropleth map of career medal totals, top-15 leaderboard, and gold/silver/bronze split for the top 10 countries in the selected filters.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51960" y="2011680"/>
            <a:ext cx="3566160" cy="2834640"/>
          </a:xfrm>
          <a:prstGeom prst="roundRect">
            <a:avLst>
              <a:gd name="adj" fmla="val 2581"/>
            </a:avLst>
          </a:prstGeom>
          <a:solidFill>
            <a:srgbClr val="F4F5F6"/>
          </a:solidFill>
          <a:ln/>
        </p:spPr>
      </p:sp>
      <p:sp>
        <p:nvSpPr>
          <p:cNvPr id="10" name="Shape 8"/>
          <p:cNvSpPr/>
          <p:nvPr/>
        </p:nvSpPr>
        <p:spPr>
          <a:xfrm>
            <a:off x="4526280" y="2286000"/>
            <a:ext cx="548640" cy="548640"/>
          </a:xfrm>
          <a:prstGeom prst="ellipse">
            <a:avLst/>
          </a:prstGeom>
          <a:solidFill>
            <a:srgbClr val="1B5E6B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80" dirty="0"/>
          </a:p>
        </p:txBody>
      </p:sp>
      <p:sp>
        <p:nvSpPr>
          <p:cNvPr id="12" name="Text 10"/>
          <p:cNvSpPr/>
          <p:nvPr/>
        </p:nvSpPr>
        <p:spPr>
          <a:xfrm>
            <a:off x="4480560" y="26974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Continental Trends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480560" y="315468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area chart of continental medal share over time, plus a country-vs-continent-average highlight line for any country the reader picks.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2011680"/>
            <a:ext cx="3566160" cy="2834640"/>
          </a:xfrm>
          <a:prstGeom prst="roundRect">
            <a:avLst>
              <a:gd name="adj" fmla="val 2581"/>
            </a:avLst>
          </a:prstGeom>
          <a:solidFill>
            <a:srgbClr val="F4F5F6"/>
          </a:solidFill>
          <a:ln/>
        </p:spPr>
      </p:sp>
      <p:sp>
        <p:nvSpPr>
          <p:cNvPr id="15" name="Shape 13"/>
          <p:cNvSpPr/>
          <p:nvPr/>
        </p:nvSpPr>
        <p:spPr>
          <a:xfrm>
            <a:off x="8321040" y="2286000"/>
            <a:ext cx="548640" cy="548640"/>
          </a:xfrm>
          <a:prstGeom prst="ellipse">
            <a:avLst/>
          </a:prstGeom>
          <a:solidFill>
            <a:srgbClr val="C1443C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80" dirty="0"/>
          </a:p>
        </p:txBody>
      </p:sp>
      <p:sp>
        <p:nvSpPr>
          <p:cNvPr id="17" name="Text 15"/>
          <p:cNvSpPr/>
          <p:nvPr/>
        </p:nvSpPr>
        <p:spPr>
          <a:xfrm>
            <a:off x="8275320" y="26974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 &amp; Efficiency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75320" y="315468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Host-nation boost by continent, and a live scatter explorer of career total, editions medalled, and gold-conversion ratio.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5120640"/>
            <a:ext cx="11274552" cy="822960"/>
          </a:xfrm>
          <a:prstGeom prst="roundRect">
            <a:avLst>
              <a:gd name="adj" fmla="val 8889"/>
            </a:avLst>
          </a:prstGeom>
          <a:solidFill>
            <a:srgbClr val="0F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5120640"/>
            <a:ext cx="10817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URL: </a:t>
            </a:r>
            <a:pPr indent="0" marL="0">
              <a:buNone/>
            </a:pPr>
            <a:r>
              <a:rPr lang="en-US" sz="1300" dirty="0">
                <a:solidFill>
                  <a:srgbClr val="D8E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after deploying to Streamlit Community Cloud (see README) — e.g. https://&lt;your-app&gt;.streamlit.app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Years of the Summer Olympics · Data Visualization, Summer 2026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Deliverables &amp; Submission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1645920"/>
          </a:xfrm>
          <a:prstGeom prst="roundRect">
            <a:avLst>
              <a:gd name="adj" fmla="val 4444"/>
            </a:avLst>
          </a:prstGeom>
          <a:solidFill>
            <a:srgbClr val="F4F5F6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645920"/>
            <a:ext cx="640080" cy="640080"/>
          </a:xfrm>
          <a:prstGeom prst="ellipse">
            <a:avLst/>
          </a:prstGeom>
          <a:solidFill>
            <a:srgbClr val="0F2A4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1960" dirty="0"/>
          </a:p>
        </p:txBody>
      </p:sp>
      <p:sp>
        <p:nvSpPr>
          <p:cNvPr id="6" name="Text 4"/>
          <p:cNvSpPr/>
          <p:nvPr/>
        </p:nvSpPr>
        <p:spPr>
          <a:xfrm>
            <a:off x="1691640" y="16002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 Notebook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91640" y="2084832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analysis.ipynb — 10 questions, 10 Plotly visuals, CVD-safe &amp; annotated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371600"/>
            <a:ext cx="5394960" cy="1645920"/>
          </a:xfrm>
          <a:prstGeom prst="roundRect">
            <a:avLst>
              <a:gd name="adj" fmla="val 4444"/>
            </a:avLst>
          </a:prstGeom>
          <a:solidFill>
            <a:srgbClr val="F4F5F6"/>
          </a:solidFill>
          <a:ln/>
        </p:spPr>
      </p:sp>
      <p:sp>
        <p:nvSpPr>
          <p:cNvPr id="9" name="Shape 7"/>
          <p:cNvSpPr/>
          <p:nvPr/>
        </p:nvSpPr>
        <p:spPr>
          <a:xfrm>
            <a:off x="6492240" y="1645920"/>
            <a:ext cx="640080" cy="640080"/>
          </a:xfrm>
          <a:prstGeom prst="ellipse">
            <a:avLst/>
          </a:prstGeom>
          <a:solidFill>
            <a:srgbClr val="1B5E6B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960" dirty="0"/>
          </a:p>
        </p:txBody>
      </p:sp>
      <p:sp>
        <p:nvSpPr>
          <p:cNvPr id="11" name="Text 9"/>
          <p:cNvSpPr/>
          <p:nvPr/>
        </p:nvSpPr>
        <p:spPr>
          <a:xfrm>
            <a:off x="7360920" y="16002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60920" y="2084832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dashboard/app.py — interactive Streamlit app, deploy to Streamlit Community Cloud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91840"/>
            <a:ext cx="5394960" cy="1645920"/>
          </a:xfrm>
          <a:prstGeom prst="roundRect">
            <a:avLst>
              <a:gd name="adj" fmla="val 4444"/>
            </a:avLst>
          </a:prstGeom>
          <a:solidFill>
            <a:srgbClr val="F4F5F6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3566160"/>
            <a:ext cx="640080" cy="640080"/>
          </a:xfrm>
          <a:prstGeom prst="ellipse">
            <a:avLst/>
          </a:prstGeom>
          <a:solidFill>
            <a:srgbClr val="C1443C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566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960" dirty="0"/>
          </a:p>
        </p:txBody>
      </p:sp>
      <p:sp>
        <p:nvSpPr>
          <p:cNvPr id="16" name="Text 14"/>
          <p:cNvSpPr/>
          <p:nvPr/>
        </p:nvSpPr>
        <p:spPr>
          <a:xfrm>
            <a:off x="1691640" y="35204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91640" y="4005072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deck, exported to PDF, with dashboard snapshots and live link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3291840"/>
            <a:ext cx="5394960" cy="1645920"/>
          </a:xfrm>
          <a:prstGeom prst="roundRect">
            <a:avLst>
              <a:gd name="adj" fmla="val 4444"/>
            </a:avLst>
          </a:prstGeom>
          <a:solidFill>
            <a:srgbClr val="F4F5F6"/>
          </a:solidFill>
          <a:ln/>
        </p:spPr>
      </p:sp>
      <p:sp>
        <p:nvSpPr>
          <p:cNvPr id="19" name="Shape 17"/>
          <p:cNvSpPr/>
          <p:nvPr/>
        </p:nvSpPr>
        <p:spPr>
          <a:xfrm>
            <a:off x="6492240" y="3566160"/>
            <a:ext cx="640080" cy="640080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3566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960" dirty="0"/>
          </a:p>
        </p:txBody>
      </p:sp>
      <p:sp>
        <p:nvSpPr>
          <p:cNvPr id="21" name="Text 19"/>
          <p:cNvSpPr/>
          <p:nvPr/>
        </p:nvSpPr>
        <p:spPr>
          <a:xfrm>
            <a:off x="7360920" y="35204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60920" y="4005072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GitHub repo (not the classwork repo) with all code, data, and this deck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the repo link via a 1-to-1 Microsoft Teams message. Deadline: Friday, 31 July 2026 — no late submissions.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Years of the Summer Olympics · Data Visualization, Summer 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640080" cy="640080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6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60" dirty="0"/>
          </a:p>
        </p:txBody>
      </p:sp>
      <p:sp>
        <p:nvSpPr>
          <p:cNvPr id="5" name="Text 3"/>
          <p:cNvSpPr/>
          <p:nvPr/>
        </p:nvSpPr>
        <p:spPr>
          <a:xfrm>
            <a:off x="1554480" y="150876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Geopolitics leaves a measurable trace on sport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554480" y="201168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War bloc dynamics, the Soviet collapse, and the century-long European-to-Asian power shift all show up directly in the numbers, not just the history books.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3063240"/>
            <a:ext cx="640080" cy="640080"/>
          </a:xfrm>
          <a:prstGeom prst="ellipse">
            <a:avLst/>
          </a:prstGeom>
          <a:solidFill>
            <a:srgbClr val="1B5E6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063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6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60" dirty="0"/>
          </a:p>
        </p:txBody>
      </p:sp>
      <p:sp>
        <p:nvSpPr>
          <p:cNvPr id="9" name="Text 7"/>
          <p:cNvSpPr/>
          <p:nvPr/>
        </p:nvSpPr>
        <p:spPr>
          <a:xfrm>
            <a:off x="1554480" y="301752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Hosting still helps, but scale has diluted it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554480" y="352044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host boost is real in every era, but 1,000%-of-average effects from 1896 are gone in a globalised field — and hosting amplifies existing strength more than it lifts the weak.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4572000"/>
            <a:ext cx="640080" cy="640080"/>
          </a:xfrm>
          <a:prstGeom prst="ellipse">
            <a:avLst/>
          </a:prstGeom>
          <a:solidFill>
            <a:srgbClr val="C1443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572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60" b="1" dirty="0">
                <a:solidFill>
                  <a:srgbClr val="0F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60" dirty="0"/>
          </a:p>
        </p:txBody>
      </p:sp>
      <p:sp>
        <p:nvSpPr>
          <p:cNvPr id="13" name="Text 11"/>
          <p:cNvSpPr/>
          <p:nvPr/>
        </p:nvSpPr>
        <p:spPr>
          <a:xfrm>
            <a:off x="1554480" y="452628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Broader participation hasn't meant equal outcomes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554480" y="502920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more nations medal today than ever before, but the top 10 still take roughly half of all medals — globalisation broadened the field without levelling it.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Years of the Summer Olympics · Data Visualization, Summer 2026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2026-07-26T17:04:44Z</dcterms:created>
  <dcterms:modified xsi:type="dcterms:W3CDTF">2026-07-26T17:04:44Z</dcterms:modified>
</cp:coreProperties>
</file>